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F87171"/>
                </a:solidFill>
                <a:latin typeface="Arial"/>
              </a:defRPr>
            </a:pPr>
            <a:r>
              <a:t>HỌC PHẦN: ĐẢM BẢO CHẤT LƯỢNG PHẦN MỀM THEO HƯỚNG SCRUM</a:t>
            </a:r>
          </a:p>
          <a:p>
            <a:pPr>
              <a:spcAft>
                <a:spcPts val="18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BÁO CÁO KẾT QUẢ SPRINT 1</a:t>
            </a:r>
            <a:br/>
            <a:r>
              <a:t>XÂY DỰNG NỀN TẢNG &amp; CƠ CHẾ PHÂN QUYỀN ĐỘNG</a:t>
            </a:r>
          </a:p>
          <a:p>
            <a:pPr>
              <a:defRPr sz="1600">
                <a:solidFill>
                  <a:srgbClr val="CBD5E1"/>
                </a:solidFill>
                <a:latin typeface="Arial"/>
              </a:defRPr>
            </a:pPr>
            <a:r>
              <a:t>Sản phẩm: Hệ thống Quản lý Thành viên và Hoạt động Câu lạc bộ Sinh viên VJU (CLUB-BASIC-VJU)</a:t>
            </a:r>
            <a:br/>
            <a:r>
              <a:t>Nhóm thực hiện: Nhóm 3  |  Trạng thái Sprint 1: 41/41 PBI Hoàn thành (137 SP) · 157/157 Test Cases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1 · TỔ CHỨC ĐỘI NGŨ SCRUM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Hồ sơ Phân vai Chính thức của Nhóm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Nguồn: B03_Phieu_Ho_so_vai_tro_nhom.pdf (Ngày chốt: 26/09/2026)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737360"/>
                <a:gridCol w="1828800"/>
                <a:gridCol w="4389120"/>
              </a:tblGrid>
              <a:tr h="7924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Họ và tên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MSSV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Vai trò Scrum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Chuyên môn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Cam kết kiểm chứng được &amp; Việc KHÔNG làm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Nguyễn Xuân Phát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23110209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Product Owner (PO)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Full-stack / 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Trả lời câu hỏi khung 20h–24h (&lt; 2h); chốt PB-54 &amp; AC; KHÔNG làm thay hoặc dồn ép nhóm.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Đặng Thanh Phong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23110329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Scrum Master (SM)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Full-stack Dev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Chủ trì Daily Scrum 21h00 hằng ngày; gỡ trở ngại; KHÔNG giao việc áp đặt hay tự quyết thay PO.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Đoàn Kinh Quốc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23110215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Development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Backend Dev,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Phụ trách Spring Boot 4, PostgreSQL 16, Flyway Migration, RBAC Scope &amp; Audit Log.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Phùng Xuân Phúc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23110211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Development Team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Frontend Dev, UI/UX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Phụ trách giao diện Next.js 16, biểu mẫu, bảng dữ liệu và hiển thị theo Permission.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Hà Lê Ngọc Thắng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23110220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Development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Tester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Thiết kế 394 Test Cases (157 TC Phase 1), chạy kiểm thử E2E/Postman &amp; quản lý Nhật ký lỗi.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1 · MA TRẬN KỸ NĂNG &amp; HỌC CHÉO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Ma trận Kỹ năng, Học chéo &amp; Thỏa thuận Làm việc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Nhận diện sớm lỗ hổng kỹ năng đầu Sprint 1 và kèm cặp thực chiến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1. Ma trận kỹ năng &amp; Kế hoạch học chéo (Cross-training)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Thế mạnh của nhóm (≥ 2): Phân tích yêu cầu (5/5), Viết tài liệu (5/5), Thiết kế UI (4/5), Frontend (3/5), Backend (3/5), CSDL (3/5).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Lỗ hổng rủi ro cao nhất đầu Sprint 1: Kỹ năng Triển khai (chỉ 1/5 thành viên đạt mức ≥ 2).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Kèm cặp Triển khai: Nguyễn Xuân Phát (mức 3) kèm cả nhóm triển khai Docker Compose, VPS, Cloudflare &amp; Backup DB (commit 3a6de47).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Kèm cặp Backend: Nguyễn Xuân Phát kèm Phùng Xuân Phúc về kiến trúc Spring Boot 4 &amp; JPA.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Kèm cặp Frontend: Đặng Thanh Phong kèm Đoàn Kinh Quốc về kiến trúc Next.js 16 &amp; tích hợp API.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2. Quy ước làm việc &amp; Xử lý tình huống Scrum (TH 5 &amp; 6)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Khắc phục Tình huống 5 ('ai rảnh thì làm'): 100% thẻ PBI trên Sprint Backlog đều gắn Owner cụ thể và giới hạn WIP.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Khắc phục Tình huống 6 ('PO &amp; SM tự quyết trong tin nhắn riêng'): Mọi quyết định về Backlog, AC và kỹ thuật chỉ có hiệu lực khi thống nhất công khai trước toàn bộ Scrum Team.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Daily Scrum cố định lúc 21h00 hằng ngày; cập nhật trạng thái &amp; Evidence ngay sau mỗi phiên làm việc.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2 · BÀI TOÁN &amp; ĐẶC TẢ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Thực trạng CLB Nghệ thuật VJUA &amp; Mục tiêu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Thay thế quy trình quản lý rời rạc trên Google Forms, Sheets, Facebook &amp; Messenger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Thực trạng khi chưa có hệ thống (6 vấn đề lớn)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1. Dữ liệu thành viên bị phân mảnh trên nhiều Google Forms &amp; Google Sheets qua từng đợt tuyển quân.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2. Quy trình xét duyệt đơn đăng ký gia nhập CLB thủ công, khó theo dõi trạng thái.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3. Khi nhiều sự kiện diễn ra liên tiếp, dữ liệu đăng ký và nhân sự bị chồng chéo.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4. Phân công công việc (Task) qua tin nhắn Messenger dễ bị trôi và không đo lường được tiến độ.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5. Điểm danh và lịch sử tham gia hoạt động của sinh viên khó tra cứu tập trung.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6. Không kiểm soát được quyền hạn truy cập dữ liệu giữa các Ban và các CLB.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Mục tiêu của Hệ thống CLUB-BASIC-VJU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Quản lý tập trung toàn bộ vòng đời: Tài khoản -&gt; CLB &amp; Cơ cấu Ban -&gt; Thành viên -&gt; Sự kiện -&gt; Nhiệm vụ -&gt; Điểm danh -&gt; Thông báo.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Xây dựng cơ chế Phân quyền Động theo Phạm vi (GLOBAL / CLUB / DEPARTMENT) tách rời khỏi Membership.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Đảm bảo chất lượng phần mềm (SQA) xuyên suốt: Đặc tả -&gt; Acceptance Criteria -&gt; Kiểm thử tự động (Unit, Integration, E2E) -&gt; CI/CD.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2 · KIẾN TRÚC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Kiến trúc 3 Tầng Thực tế &amp; Hạ tầng Đảm bảo Chất lượng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Đã triển khai đồng bộ trên nhánh main/backend (commit 7ae7844) và VPS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Frontend (Next.js 16)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Next.js 16, React 19, TypeScript, TailwindCSS.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Landing Page &amp; Khám phá CLB công khai (/home, /clubs).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AppShell Quản trị tự động ẩn/hiện menu &amp; nút thao tác theo effective-permissions.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Tự động gửi kèm Cookie phiên CLUB_SESSION &amp; header X-XSRF-TOKEN.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661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Backend (Spring Boot 4.1.1)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Java 21, Spring Security, OAuth2 JWT Resource Server (HS256 Nimbus).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Spring Data JPA / Hibernate + Flyway Migration (V1 -&gt; V8).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Đăng nhập Email/Password + Google OAuth2 (@st.vju.ac.vn).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Chuẩn hóa mã lỗi RFC 7807 (ProblemDetail) &amp; OpenAPI 3.1 / Swagger UI.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63040"/>
            <a:ext cx="35661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Database, Cache &amp; QA/CI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PostgreSQL 16 + Redis 7 Alpine (cache API công khai &amp; tài liệu/ảnh).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JUnit 5, MockMvc + Testcontainers (PostgreSQL thật).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OpenApiContractCompletenessTest chặn thiếu tài liệu API.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Docker Compose Production + Backup DB tự động hằng đêm trên VPS.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3 · KẾT QUẢ THỰC HIỆN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Thống kê Kết quả Sprint 1 Backlog (41/41 PBI Hoàn thành)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Velocity Sprint 1 = 137/137 Story Points (100%) · Độ phủ kiểm thử Phase 1 = 157/157 Test Cases Pass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731520"/>
                <a:gridCol w="1005840"/>
                <a:gridCol w="822960"/>
                <a:gridCol w="1463040"/>
                <a:gridCol w="1828800"/>
              </a:tblGrid>
              <a:tr h="49377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Nhóm Module (Phase 1)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Mã PBI thuộc nhóm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Số PBI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Story Points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Số TC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Kết quả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Commit tiêu biểu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1. Xác thực &amp; Hồ sơ cá nhân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PB-01, PB-02.1..02.4, PB-03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17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24 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Hoàn thành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a9a93d2, 48dc55e, aad2e6f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2. Quản trị Tài khoản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PB-04, PB-05.1..05.4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15 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20 TC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Hoàn thành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b7d6981, 71053d1, 01d4c2a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3. Phân quyền &amp; Làm rõ PB-54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PB-06, PB-07.1..07.2, PB-08, PB-09.1..09.2, PB-54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30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27 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Hoàn thành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660d919, b7d6981, 7ae7844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4. Câu lạc bộ &amp; Khám phá CLB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PB-10.1..10.3, PB-12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12 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16 TC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Hoàn thành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660d919, c55677e, 65d2b2d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5. Cơ cấu Ban &amp; Chức danh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PB-13.1..13.3, PB-14.1..14.2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14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16 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Hoàn thành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03d8848, 7ae7844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6. Thành viên &amp; Phân ban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PB-15.1..15.2, PB-16.1, PB-17.1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12 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14 TC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Hoàn thành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4501a50, 14c1958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7. Nhật ký kiểm toán (Audit)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3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 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Hoàn thành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5e4759d, 660d919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8. Hạ tầng, DB, API, UI &amp; QA/CI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PB-39.1..39.4, PB-40.1..40.3, PB-52, PB-53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34 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36 TC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Hoàn thành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d865a9a, 8172701, 9e8138d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TỔNG CỘNG SPRINT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41 / 41 PBIs (Phase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137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157 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100%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HEAD: 7ae7844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3 · CHI TIẾT SẢN PHẨM SPRINT 1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Kết quả Hiện thực hóa: Xác thực, Tài khoản, CLB &amp; 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Đầy đủ luồng UI (Next.js 16) -&gt; API (Spring Boot 4) -&gt; Database (PostgreSQL 16)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1. Module Authentication &amp; Quản trị Tài khoản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Đăng ký tài khoản (POST /api/v1/auth/register) &amp; Đăng ký/Đăng nhập bằng Google trường @st.vju.ac.vn (commit 48dc55e).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Đăng nhập phiên HttpOnly Cookie CLUB_SESSION + CSRF Token, làm mới token (/refresh), đăng xuất (/logout).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Bắt buộc đổi mật khẩu lần đầu (PasswordChangeRequiredFilter) đối với tài khoản do Admin khởi tạo.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Hồ sơ cá nhân (/api/v1/users/me) lấy userId trực tiếp từ JWT, chặn tự ý nâng quyền hoặc đổi trạng thái.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Admin tìm kiếm/lọc user, khóa/mở khóa/vô hiệu hóa tài khoản kèm thu hồi phiên tức thì (token_version).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2. Module Câu lạc bộ (Club) &amp; Cơ cấu Ban (Department)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Khởi tạo CLB mới (POST /api/v1/clubs), chuẩn hóa và chặn trùng mã CLB (code).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Cập nhật thông tin giới thiệu, lĩnh vực, email liên hệ, ảnh bìa chất lượng cao &amp; đổi trạng thái ACTIVE/INACTIVE.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Trang Khám phá CLB công khai (GET /api/v1/public/clubs) tích hợp Redis Cache, không lộ dữ liệu riêng tư thành viên.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Quản lý đầy đủ vòng đời các Ban trong CLB (Ban Truyền thông, Hậu cần, Đối ngoại, Chuyên môn): tạo, sửa, bật/tắt trạng thái ban (commit 03d8848).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3 · CHI TIẾT SẢN PHẨM SPRINT 1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Kết quả Hiện thực hóa: Membership, Phân ban, Chức danh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Đảm bảo tính toàn vẹn dữ liệu giữa Tài khoản – CLB – Ban – Quyền hạn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3. Module Membership &amp; Phân ban (Department Member)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Thêm thành viên chính thức vào CLB (POST /api/v1/clubs/{clubId}/members), chống tạo trùng Membership kể cả khi gửi request đồng thời.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Tự động cấp quyền truy cập CLB cơ bản khi thêm Membership và tự động thu hồi khi ngừng Membership (commit 4501a50).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Quản lý trạng thái Membership (ACTIVE, INACTIVE, LEFT, SUSPENDED).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Phân bổ và điều chuyển thành viên giữa các Ban thuộc đúng CLB (POST /api/v1/departments/{id}/members).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4. Chức danh Tổ chức Động &amp; Nhật ký Kiểm toán (Audit)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Tạo vai trò &amp; chức danh tổ chức động (Chủ nhiệm, Phó chủ nhiệm, Trưởng ban...) bằng tên hiển thị tự nhiên, không bắt nhập role code trên Frontend (commit 7ae7844).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Chỉ định/thay thế Trưởng ban và ban điều hành gắn đúng phạm vi clubId / departmentId.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Ghi nhận bất biến toàn bộ thao tác cấp/thu hồi quyền và đăng nhập vào bảng permission_audit_logs &amp; login_audit (GET /api/v1/permissions/audit-logs).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4 · KIẾN TRÚC PHÂN QUYỀN &amp; BẢO MẬT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Cơ chế Phân quyền Động theo Phạm vi (ScopeRules &amp; GrantGuard)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Giải quyết triệt để yêu cầu cốt lõi của Giai đoạn 1 và quyết định nghiệp vụ PB-54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1. Tách rời Membership &amp; Permission + Phân cấp 3 Scope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Có Membership tại CLB VJUA chỉ xác nhận là thành viên; quyền chỉnh sửa CLB, quản lý ban hay cấp quyền do Permission quyết định.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Phạm vi GLOBAL: Quản trị toàn hệ thống.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Phạm vi CLUB (clubId): Chỉ có hiệu lực trên dữ liệu của đúng CLB đó và các Ban trực thuộc CLB đó.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Phạm vi DEPARTMENT (clubId + departmentId): Chỉ có hiệu lực trong đúng Ban được phân công; truy cập sang Ban khác hoặc CLB khác bị chặn 403 Forbidden.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2. Chống Leo thang Đặc quyền (GrantGuard.java)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Quy tắc 1 — Cấm tự cấp quyền (Self-grant Guard): Người dùng không bao giờ được tự cấp hoặc tự thu hồi quyền của chính mình (403 self_grant_forbidden).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Quy tắc 2 — Giới hạn phạm vi ủy quyền: Người cấp chỉ được phép cấp những Permission và Scope mà bản thân họ đang sở hữu hợp lệ.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Quy tắc 3 — Hiệu lực tức thì &amp; Thời hạn (expiresAt): Thu hồi quyền có hiệu lực ngay lập tức trên cả API và giao diện; hỗ trợ quyền có thời hạn theo nhiệm kỳ.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4 · 9 CHỐT CHẶN BẢO MẬT (ĐẶC TẢ §11)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Đối chiếu 9 Yêu cầu Bảo mật Giai đoạn 1 với Codebase Thực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Tất cả 9/9 chốt chặn bảo mật đều có Unit Test &amp; Integration Test kiểm chứng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4846320"/>
                <a:gridCol w="1463040"/>
              </a:tblGrid>
              <a:tr h="49377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Yêu cầu Bảo mật trong Đặc tả Giai đoạn 1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Thành phần thực thi trong Backend (Spring Boot)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Trạng thái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Mật khẩu không lưu dưới dạng Plain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BCryptPasswordEncoder + PasswordPolicy kiểm tra độ mạnh mật khẩu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Đạt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Các API quan trọng yêu cầu Authentication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SecurityConfig + JwtAuthenticationFilter + Cookie CLUB_SESSION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Đạt (Pass)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Backend bắt buộc kiểm tra Permission trước khi xử lý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PermissionAuthorizationService + @PreAuthorize trên từng 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Đạt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Cấm tự cấp Permission cho chính mình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GrantGuard.assertCanModifyTarget() chặn actorUserId == targetUserId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Đạt (Pass)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Cấm dùng Permission của Club A sang Club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ScopeRules.covers() đối chiếu clubId của tài nguyên đích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Đạt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Cấm dùng Permission của Department A sang Department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ScopeRules.covers() đối chiếu departmentId của tài nguyên đích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Đạt (Pass)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Ghi nhật ký mọi thao tác cấp và thu hồi Permission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PermissionAuditLogRepository (chỉ cho phép INSERT, cấm sửa/xóa)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Đạt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Từ chối Token hết hạn &amp; chống tấn công CSRF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NimbusJwtDecoder kiểm tra exp + CookieCsrfFilter (X-XSRF-TOKEN)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Đạt (Pass)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Tài khoản Locked/Disabled bị chặn ngay lập tức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DatabaseBackedJwtAuthenticationConverter + UserAccountStatusCache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Đạt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5 · ĐẢM BẢO CHẤT LƯỢNG (QA &amp; TESTING)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Ma trận Truy vết Kiểm thử &amp; Kết quả 157 Test Cases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Truy vết 100%: 41 PBI Sprint 1 -&gt; 157 Acceptance Criteria -&gt; 157 Test Cases (Pass 100%)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1. Bốn lớp kiểm thử tự động trong Sprint 1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Unit Tests (JUnit 5 + Mockito): Kiểm thử cô lập ScopeRules, GrantGuard, PasswordPolicy, PermissionServiceImpl.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Integration Tests (MockMvc + Testcontainers PostgreSQL 16): Chạy kiểm thử API thật trên DB thật cho Auth, User, Club, Department, Permission, Role.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API Contract Guard (OpenApiContractCompletenessTest): Tự động fail build nếu bất kỳ endpoint nào thiếu trong docs/api/openapi.yaml (commit d865a9a).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E2E Vertical Slice &amp; Postman Collection: Kiểm thử luồng dọc UI -&gt; API -&gt; DB với phiên Cookie &amp; CSRF thật (commits fca0b36, 9e8138d).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2. Phân bổ 157 Test Cases Phase 1 (Pass 157/157)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Xác thực &amp; Hồ sơ (PB-01..PB-03): 24 Test Cases — Pass 100%.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Quản trị Tài khoản (PB-04..PB-05.4): 20 Test Cases — Pass 100%.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Phân quyền, Scope &amp; Nhóm quyền (PB-06..PB-09.2, PB-54): 27 Test Cases — Pass 100%.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Câu lạc bộ &amp; Khám phá CLB (PB-10.1..10.3, PB-12): 16 Test Cases — Pass 100%.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Cơ cấu Ban, Chức danh, Thành viên &amp; Phân ban: 30 Test Cases — Pass 100%.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Audit Log, Hạ tầng, Migration, API Contract, UI &amp; CI: 40 Test Cases — Pass 100%.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5 · NHẬT KÝ LỖI (BUG LOG — PB-52)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6 Lỗi Thực tế Phát hiện, Sửa lỗi &amp; Retest Hồi quy trong 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Tuân thủ quy trình: Tái hiện -&gt; Phân loại -&gt; Sửa lỗi (gắn Commit) -&gt; Retest -&gt; Đóng lỗi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4389120"/>
                <a:gridCol w="1005840"/>
                <a:gridCol w="1097280"/>
                <a:gridCol w="1920240"/>
              </a:tblGrid>
              <a:tr h="70539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BUG-ID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PBI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Tiêu đề lỗi phát hiện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Mức độ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Commit sửa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Trạng thái &amp; Retest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BUG-P1-01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PB-06, PB-39.2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Trùng mã quyền department.active trong migration &amp; thiếu lưu vết login_audit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Major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5e4759d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Đã đóng · Retest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BUG-P1-02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PB-39.4, PB-01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Giao diện Frontend hiển thị mã lỗi kỹ thuật thay vì thông báo tiếng Việt thân thiện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Minor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910e386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Đã đóng · Retest 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BUG-P1-03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PB-39.1, PB-53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Profile prod tự động chạy DemoDataSeeder dành cho môi trường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cb5186c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Đã đóng · Retest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BUG-P1-04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PB-40.1, PB-40.2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Dữ liệu test ảnh hưởng chéo giữa các test suite &amp; lỗi đường dẫn file trên CI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Major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8172701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Đã đóng · Retest 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BUG-P1-05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PB-16.1, PB-07.1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Thêm/thu hồi Membership chưa đồng bộ quyền CLB &amp; chưa kiểm tra CLB/user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4501a50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Đã đóng · Retest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BUG-P1-06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PB-09.1, PB-14.1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Form tạo Vai trò/Chức danh bắt nhập role code kỹ thuật trên giao diện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Major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7ae7844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Đã đóng · Retest 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5 · NGHIỆM THU DEFINITION OF DONE (DOD)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Đối chiếu 19 Tiêu chí DoD Phase 1 &amp; 12 Tiêu chí DoD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100% Tiêu chí DoD của Giai đoạn 1 đạt chuẩn với đầy đủ Evidence trên GitHub &amp;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1. DoD cấp Module Phase 1 (DoD-P1-01 -&gt; DoD-P1-19: ĐẠT)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DoD-P1-01 &amp; 02 (Xác thực &amp; Hồ sơ): 24 TC Pass; chặn 401, khóa tài khoản, chống giả mạo owner.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DoD-P1-03, 04, 16, 17 (CLB, Khám phá, Ban, Chức danh): 41 TC Pass; chuẩn hóa mã trùng, ẩn dữ liệu riêng tư.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DoD-P1-05 &amp; 18 (Thành viên &amp; Phân ban): 14 TC Pass; chống trùng membership đồng thời, kiểm tra scope.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DoD-P1-06, 07, 19 (Phân quyền, PB-54 &amp; Audit): 31 TC Pass; grant/revoke tức thì, lưu vết audit bất biến.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DoD-P1-08..15 (Hạ tầng, DB, API, UI, CI, Quản lý lỗi, Dữ liệu test, Tài khoản): 56 TC Pass.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2. DoD cấp Hệ thống (DoD-SYS-01 -&gt; DoD-SYS-12: ĐẠT)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DoD-SYS-01 &amp; 02: 104 PBI toàn dự án khớp 394 TC (Sprint 1: 41 PBI &lt;-&gt; 157 TC).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DoD-SYS-03 &amp; 04: 100% PBI Sprint 1 có trạng thái Hoàn thành, ngày bắt đầu/kết thúc và Evidence.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DoD-SYS-05: 0 lỗi Blocker/Critical còn mở (toàn bộ 6 bug phát hiện trong Sprint 1 đã đóng).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DoD-SYS-06, 07, 08: Luồng dọc UI -&gt; API -&gt; DB chạy đồng nhất trên môi trường thật.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DoD-SYS-09..12: CI xanh, giao diện nhất quán, triển khai Docker VPS &amp; có backup DB tự động.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6 · KỊCH BẢN LIVE DEMO CUỐI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Kịch bản Demo 14 Bước Chuẩn theo Biên bản Họp Giai đoạn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Minh chứng trực tiếp cơ chế Phân quyền Động tách rời Membership trên hệ thống thật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Bước 1 – Bước 7: Khởi tạo &amp; Quyền Xem cơ bản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1: Nguyễn Xuân Phát đăng ký tài khoản mới thành công.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2: Nguyễn Xuân Phát đăng nhập vào hệ thống (nhận phiên CLUB_SESSION).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3: Hệ thống có Câu lạc bộ Nghệ thuật VJUA đang hoạt động (ACTIVE).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4: Người quản lý thêm Nguyễn Xuân Phát vào CLB VJUA (Membership = ACTIVE).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5: Nguyễn Xuân Phát được phân vào Ban Truyền thông của CLB VJUA.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6: Phát ban đầu chỉ có quyền cơ bản: club.view và member.view tại VJUA.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7: Phát truy cập danh sách thành viên CLB VJUA -&gt; Thành công (200 OK).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Bước 8 – Bước 14: Cấp &amp; Thu hồi Quyền Động Tức thì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8: Phát thử chỉnh sửa thông tin CLB VJUA khi chưa có quyền club.update.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9: Hệ thống chặn thao tác và trả về 403 Forbidden.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10: Người quản lý vào giao diện Phân quyền cấp thêm club.update (Scope: VJUA) cho Phát.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11: Phát thực hiện chỉnh sửa thông tin CLB VJUA -&gt; Thành công (200 OK).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12: Người quản lý bỏ tích (thu hồi) quyền club.update của Phát.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Bước 13–14: Phát thử chỉnh sửa lại CLB VJUA -&gt; Hệ thống lập tức trả về 403 Forbidden &amp; lưu Audit Log.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B1B30"/>
                </a:solidFill>
                <a:latin typeface="Arial"/>
              </a:defRPr>
            </a:pPr>
            <a:r>
              <a:t>PHẦN 6 · SPRINT RETROSPECTIVE &amp; KẾ HOẠCH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rial"/>
              </a:defRPr>
            </a:pPr>
            <a:r>
              <a:t>Nhìn lại Sprint 1 (Retrospective) &amp; Kế hoạch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Duy trì nhịp độ Scrum và chuẩn bị nghiệm thu 20 PBI của Phase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1. Sprint 1 Retrospective (Nhìn lại Sprint 1)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Điểm làm tốt (Keep): Hoàn thành 100% cam kết (41 PBI / 137 SP); triển khai sớm lên VPS Production; kế hoạch học chéo Docker/Spring Boot/Next.js giúp cả nhóm làm chủ công nghệ.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Chất lượng kỹ thuật: Phát hiện và sửa triệt để 6 lỗi thực tế; xây dựng sẵn nền tảng cho cả các module Sự kiện, Nhiệm vụ, Chat AI &amp; Thông báo.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Điểm cần cải thiện (Improve): Cập nhật Evidence kiểm thử vào file theo dõi ngay sau mỗi PR hằng ngày thay vì dồn vào cuối tuần.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Action Item: Duy trì chạy tự động bộ Postman E2E &amp; Contract Test trên mỗi lần push.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1B30"/>
                </a:solidFill>
                <a:latin typeface="Arial"/>
              </a:defRPr>
            </a:pPr>
            <a:r>
              <a:t>2. Kế hoạch Sprint 2 (Phase 2 — 20 PBIs tiếp theo)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Mục tiêu Sprint 2: Nghiệm thu luồng Tuyển thành viên (Application Flow) &amp; Tổ chức Sự kiện (Event Flow) trên nền tảng phân quyền của Sprint 1.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Nhóm chức năng 1: Sinh viên nộp/hủy đơn ứng tuyển CLB; Chủ nhiệm/Phó chủ nhiệm xét duyệt (Approve/Reject) tự động tạo Membership.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Nhóm chức năng 2: Quản lý vòng đời thành viên nâng cao (tạm dừng, rời CLB, chuyển ban).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  <a:latin typeface="Arial"/>
              </a:defRPr>
            </a:pPr>
            <a:r>
              <a:t>• Nhóm chức năng 3: Tạo sự kiện, đóng/mở đăng ký, cho phép cả Thành viên và Sinh viên ngoài CLB (Cộng tác viên - CTV) đăng ký tham gia.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